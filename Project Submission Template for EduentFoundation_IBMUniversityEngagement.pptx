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8" r:id="rId7"/>
    <p:sldId id="262" r:id="rId8"/>
    <p:sldId id="279" r:id="rId9"/>
    <p:sldId id="289" r:id="rId10"/>
    <p:sldId id="290" r:id="rId11"/>
    <p:sldId id="264"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5" d="100"/>
          <a:sy n="85"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7124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pphad036-prp/HealthAIAgent.gi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75600576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smtClean="0"/>
                        <a:t>Faculty </a:t>
                      </a:r>
                      <a:r>
                        <a:rPr lang="en-US" sz="1800" u="none" strike="noStrike" cap="none" dirty="0"/>
                        <a:t>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smtClean="0"/>
                        <a:t>Prasad Ramesh </a:t>
                      </a:r>
                      <a:r>
                        <a:rPr lang="en-US" dirty="0" err="1" smtClean="0"/>
                        <a:t>Phad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pphad036@gmail.com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7588174461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2244742" y="1456955"/>
            <a:ext cx="10280254" cy="461665"/>
          </a:xfrm>
          <a:prstGeom prst="rect">
            <a:avLst/>
          </a:prstGeom>
          <a:noFill/>
        </p:spPr>
        <p:txBody>
          <a:bodyPr wrap="square" rtlCol="0">
            <a:spAutoFit/>
          </a:bodyPr>
          <a:lstStyle/>
          <a:p>
            <a:r>
              <a:rPr lang="en-US" sz="2400" b="1" dirty="0"/>
              <a:t>Domain of  Project – Healthcare </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b="1" dirty="0"/>
              <a:t>Health Insurance </a:t>
            </a:r>
            <a:r>
              <a:rPr lang="en-IN" sz="2400" b="1" dirty="0" smtClean="0"/>
              <a:t>Assistance AI Agent</a:t>
            </a:r>
            <a:endParaRPr lang="en-IN" sz="2400"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3529" y="3578579"/>
            <a:ext cx="1246632" cy="11888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539978"/>
          </a:xfrm>
          <a:prstGeom prst="rect">
            <a:avLst/>
          </a:prstGeom>
          <a:noFill/>
        </p:spPr>
        <p:txBody>
          <a:bodyPr wrap="square" rtlCol="0">
            <a:spAutoFit/>
          </a:bodyPr>
          <a:lstStyle/>
          <a:p>
            <a:pPr fontAlgn="base"/>
            <a:endParaRPr lang="en-US" sz="2000" b="1" dirty="0"/>
          </a:p>
          <a:p>
            <a:pPr fontAlgn="base"/>
            <a:r>
              <a:rPr lang="en-US" sz="2000" b="1" dirty="0"/>
              <a:t>The Challenge</a:t>
            </a:r>
            <a:r>
              <a:rPr lang="en-US" sz="2000" dirty="0"/>
              <a:t> </a:t>
            </a:r>
          </a:p>
          <a:p>
            <a:pPr fontAlgn="base"/>
            <a:r>
              <a:rPr lang="en-US" sz="2000" dirty="0"/>
              <a:t>Developing a Health Insurance Assistant AI Agent requires addressing complex insurance terminology, personalized recommendation requirements, data accuracy, regulatory compliance, privacy concerns, and real-time policy updates while ensuring reliable, secure, and user-friendly assistance for policy selection, comparison, and claims support.</a:t>
            </a:r>
          </a:p>
          <a:p>
            <a:pPr fontAlgn="base"/>
            <a:r>
              <a:rPr lang="en-US" sz="2000" dirty="0"/>
              <a:t> </a:t>
            </a:r>
            <a:endParaRPr lang="en-US" sz="2000" dirty="0" smtClean="0"/>
          </a:p>
          <a:p>
            <a:pPr fontAlgn="base"/>
            <a:endParaRPr lang="en-US" sz="2000" dirty="0"/>
          </a:p>
          <a:p>
            <a:pPr fontAlgn="base"/>
            <a:r>
              <a:rPr lang="en-US" sz="2000" b="1" dirty="0"/>
              <a:t>The Objective</a:t>
            </a:r>
            <a:endParaRPr lang="en-US" sz="2000" dirty="0"/>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Simplify health insurance information for customers. </a:t>
            </a: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Help users compare and select appropriate insurance plans. </a:t>
            </a: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Provide personalized recommendations based on user needs and budget. </a:t>
            </a: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Guide users through policy enrollment and renewal processes. </a:t>
            </a: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Assist customers with claim procedures and required documentation. </a:t>
            </a: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Offer instant responses to common insurance-related questions. </a:t>
            </a: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Improve customer engagement and satisfaction. </a:t>
            </a: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Reduce support workload for insurance companies.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1" y="704088"/>
            <a:ext cx="11074061" cy="1938992"/>
          </a:xfrm>
          <a:prstGeom prst="rect">
            <a:avLst/>
          </a:prstGeom>
          <a:noFill/>
        </p:spPr>
        <p:txBody>
          <a:bodyPr wrap="square" rtlCol="0">
            <a:spAutoFit/>
          </a:bodyPr>
          <a:lstStyle/>
          <a:p>
            <a:pPr fontAlgn="base"/>
            <a:r>
              <a:rPr lang="en-US" sz="2400" b="1" dirty="0"/>
              <a:t>Problem Statement </a:t>
            </a:r>
            <a:r>
              <a:rPr lang="en-US" sz="2400" b="1" dirty="0" smtClean="0"/>
              <a:t>-</a:t>
            </a:r>
            <a:r>
              <a:rPr lang="en-US" sz="2400" dirty="0"/>
              <a:t>AI-Powered Health Insurance Assistant for Simplifying Insurance Selection, Claims, and Policy Understanding</a:t>
            </a:r>
          </a:p>
          <a:p>
            <a:pPr fontAlgn="base"/>
            <a:endParaRPr lang="en-US" sz="2400" b="1" dirty="0" smtClean="0"/>
          </a:p>
          <a:p>
            <a:pPr fontAlgn="base"/>
            <a:endParaRPr lang="en-US" sz="2400" b="1" dirty="0"/>
          </a:p>
          <a:p>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790560" y="1165753"/>
            <a:ext cx="10607040" cy="3970318"/>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endParaRPr lang="en-IN" dirty="0" smtClean="0"/>
          </a:p>
          <a:p>
            <a:pPr fontAlgn="base"/>
            <a:endParaRPr lang="en-US" dirty="0"/>
          </a:p>
          <a:p>
            <a:pPr fontAlgn="base"/>
            <a:endParaRPr lang="en-IN" dirty="0"/>
          </a:p>
          <a:p>
            <a:pPr fontAlgn="base"/>
            <a:r>
              <a:rPr lang="en-IN" dirty="0"/>
              <a:t>Use </a:t>
            </a:r>
            <a:r>
              <a:rPr lang="en-IN" b="1" dirty="0"/>
              <a:t>any one</a:t>
            </a:r>
            <a:r>
              <a:rPr lang="en-IN" dirty="0"/>
              <a:t> of the following approaches: </a:t>
            </a:r>
          </a:p>
          <a:p>
            <a:pPr fontAlgn="base"/>
            <a:r>
              <a:rPr lang="en-IN" dirty="0"/>
              <a:t>  </a:t>
            </a:r>
          </a:p>
          <a:p>
            <a:pPr marL="285750" indent="-285750" fontAlgn="base">
              <a:buFont typeface="Arial" panose="020B0604020202020204" pitchFamily="34" charset="0"/>
              <a:buChar char="•"/>
            </a:pPr>
            <a:endParaRPr lang="en-IN" dirty="0"/>
          </a:p>
          <a:p>
            <a:pPr marL="342900" indent="-342900" fontAlgn="base">
              <a:lnSpc>
                <a:spcPct val="200000"/>
              </a:lnSpc>
              <a:buFont typeface="+mj-lt"/>
              <a:buAutoNum type="arabicPeriod"/>
            </a:pPr>
            <a:r>
              <a:rPr lang="en-IN" dirty="0"/>
              <a:t>IBM </a:t>
            </a:r>
            <a:r>
              <a:rPr lang="en-IN" dirty="0" smtClean="0"/>
              <a:t>Cloud</a:t>
            </a:r>
          </a:p>
          <a:p>
            <a:pPr marL="342900" indent="-342900" fontAlgn="base">
              <a:lnSpc>
                <a:spcPct val="200000"/>
              </a:lnSpc>
              <a:buFont typeface="+mj-lt"/>
              <a:buAutoNum type="arabicPeriod"/>
            </a:pPr>
            <a:r>
              <a:rPr lang="en-IN" dirty="0" smtClean="0"/>
              <a:t>watsonx.ai studio</a:t>
            </a:r>
          </a:p>
          <a:p>
            <a:pPr marL="342900" indent="-342900" fontAlgn="base">
              <a:lnSpc>
                <a:spcPct val="200000"/>
              </a:lnSpc>
              <a:buFont typeface="+mj-lt"/>
              <a:buAutoNum type="arabicPeriod"/>
            </a:pPr>
            <a:r>
              <a:rPr lang="en-IN" dirty="0" smtClean="0"/>
              <a:t>Watson-orchestrate </a:t>
            </a:r>
            <a:r>
              <a:rPr lang="en-IN" dirty="0">
                <a:highlight>
                  <a:srgbClr val="FFFF00"/>
                </a:highlight>
              </a:rPr>
              <a:t>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1384995"/>
          </a:xfrm>
          <a:prstGeom prst="rect">
            <a:avLst/>
          </a:prstGeom>
          <a:noFill/>
        </p:spPr>
        <p:txBody>
          <a:bodyPr wrap="square" rtlCol="0">
            <a:spAutoFit/>
          </a:bodyPr>
          <a:lstStyle/>
          <a:p>
            <a:pPr fontAlgn="base"/>
            <a:endParaRPr lang="en-US" b="1" dirty="0"/>
          </a:p>
          <a:p>
            <a:r>
              <a:rPr lang="en-US" b="1" dirty="0"/>
              <a:t>Proposed Solution: </a:t>
            </a:r>
            <a:r>
              <a:rPr lang="en-IN" b="1" dirty="0"/>
              <a:t>Health Insurance Assistance AI </a:t>
            </a:r>
            <a:r>
              <a:rPr lang="en-IN" b="1" dirty="0" smtClean="0"/>
              <a:t>Agent</a:t>
            </a:r>
          </a:p>
          <a:p>
            <a:endParaRPr lang="en-US" b="1" dirty="0"/>
          </a:p>
          <a:p>
            <a:r>
              <a:rPr lang="en-US" dirty="0"/>
              <a:t>The proposed solution is a </a:t>
            </a:r>
            <a:r>
              <a:rPr lang="en-US" b="1" dirty="0"/>
              <a:t>multi-agent AI-powered </a:t>
            </a:r>
            <a:r>
              <a:rPr lang="en-US" b="1" dirty="0" smtClean="0"/>
              <a:t>Nutrition Agent</a:t>
            </a:r>
            <a:r>
              <a:rPr lang="en-US" dirty="0" smtClean="0"/>
              <a:t> built using </a:t>
            </a:r>
            <a:r>
              <a:rPr lang="en-IN" b="1" dirty="0"/>
              <a:t>IBM cloud,  IBM watsonx.ai, Watson-orchestrate </a:t>
            </a:r>
            <a:r>
              <a:rPr lang="en-US" dirty="0"/>
              <a:t>to provide solution of the problem statements</a:t>
            </a:r>
            <a:r>
              <a:rPr lang="en-US" b="1" dirty="0"/>
              <a:t>.</a:t>
            </a:r>
          </a:p>
          <a:p>
            <a:endParaRPr lang="en-US"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
        <p:nvSpPr>
          <p:cNvPr id="6" name="Rectangle 3"/>
          <p:cNvSpPr>
            <a:spLocks noChangeArrowheads="1"/>
          </p:cNvSpPr>
          <p:nvPr/>
        </p:nvSpPr>
        <p:spPr bwMode="auto">
          <a:xfrm>
            <a:off x="959555" y="2688122"/>
            <a:ext cx="964071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IN" sz="1800" b="1" dirty="0"/>
              <a:t>Use Cases</a:t>
            </a: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Comparison of multiple health insurance plans.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Claims assistance and documentation guidance.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Explanation of premiums, deductibles, and waiting periods.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smtClean="0">
                <a:ln>
                  <a:noFill/>
                </a:ln>
                <a:solidFill>
                  <a:schemeClr val="tx1"/>
                </a:solidFill>
                <a:effectLst/>
                <a:latin typeface="Arial" panose="020B0604020202020204" pitchFamily="34" charset="0"/>
              </a:rPr>
              <a:t>Network hospital lookup and coverage information.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Policy renewal reminders and support.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Frequently Asked Questions (FAQ) automation.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Policy recommendation based on age, family size, and budget. </a:t>
            </a:r>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IN" sz="2400" dirty="0"/>
              <a:t>IBM </a:t>
            </a:r>
            <a:r>
              <a:rPr lang="en-IN" sz="2400" dirty="0" smtClean="0"/>
              <a:t>Cloud Workflow</a:t>
            </a:r>
            <a:endParaRPr lang="en-IN" sz="2400" dirty="0"/>
          </a:p>
          <a:p>
            <a:pPr lvl="0"/>
            <a:endParaRPr lang="en-US" sz="24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200" y="925688"/>
            <a:ext cx="10826044" cy="5689601"/>
          </a:xfrm>
          <a:prstGeom prst="rect">
            <a:avLst/>
          </a:prstGeom>
        </p:spPr>
      </p:pic>
    </p:spTree>
    <p:extLst>
      <p:ext uri="{BB962C8B-B14F-4D97-AF65-F5344CB8AC3E}">
        <p14:creationId xmlns:p14="http://schemas.microsoft.com/office/powerpoint/2010/main" val="1446575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869244" y="323239"/>
            <a:ext cx="8252178" cy="448508"/>
          </a:xfrm>
          <a:prstGeom prst="rect">
            <a:avLst/>
          </a:prstGeom>
          <a:noFill/>
          <a:ln>
            <a:noFill/>
          </a:ln>
        </p:spPr>
        <p:txBody>
          <a:bodyPr spcFirstLastPara="1" wrap="square" lIns="0" tIns="0" rIns="0" bIns="0" anchor="t" anchorCtr="0">
            <a:noAutofit/>
          </a:bodyPr>
          <a:lstStyle/>
          <a:p>
            <a:r>
              <a:rPr lang="en-IN" sz="2400" dirty="0"/>
              <a:t>watsonx.ai </a:t>
            </a:r>
            <a:r>
              <a:rPr lang="en-IN" sz="2400" dirty="0" smtClean="0"/>
              <a:t>studio workflow</a:t>
            </a:r>
            <a:endParaRPr lang="en-IN" sz="2400" dirty="0"/>
          </a:p>
          <a:p>
            <a:pPr lvl="0"/>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622" y="1038578"/>
            <a:ext cx="10690578" cy="58194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3500" b="1" i="0" u="none" strike="noStrike" cap="none" dirty="0" smtClean="0">
                <a:solidFill>
                  <a:srgbClr val="051D3A"/>
                </a:solidFill>
                <a:latin typeface="Times New Roman"/>
                <a:ea typeface="Times New Roman"/>
                <a:cs typeface="Times New Roman"/>
                <a:sym typeface="Times New Roman"/>
              </a:rPr>
              <a:t> </a:t>
            </a:r>
            <a:r>
              <a:rPr lang="en-IN" sz="2400" b="1" dirty="0" smtClean="0"/>
              <a:t> </a:t>
            </a:r>
            <a:r>
              <a:rPr lang="en-IN" sz="2400" b="1" dirty="0"/>
              <a:t>Watson-orchestrate </a:t>
            </a:r>
            <a:r>
              <a:rPr lang="en-US" sz="2400" b="1" dirty="0" smtClean="0">
                <a:sym typeface="Times New Roman"/>
              </a:rPr>
              <a:t>workflow </a:t>
            </a:r>
            <a:r>
              <a:rPr lang="en-US" sz="2400" b="1" dirty="0">
                <a:sym typeface="Times New Roman"/>
              </a:rPr>
              <a:t>-</a:t>
            </a:r>
            <a:endParaRPr sz="2400" b="1" dirty="0">
              <a:sym typeface="Times New Roman"/>
            </a:endParaRPr>
          </a:p>
        </p:txBody>
      </p:sp>
      <p:pic>
        <p:nvPicPr>
          <p:cNvPr id="4" name="Picture 3"/>
          <p:cNvPicPr>
            <a:picLocks noChangeAspect="1"/>
          </p:cNvPicPr>
          <p:nvPr/>
        </p:nvPicPr>
        <p:blipFill>
          <a:blip r:embed="rId3"/>
          <a:stretch>
            <a:fillRect/>
          </a:stretch>
        </p:blipFill>
        <p:spPr>
          <a:xfrm>
            <a:off x="216083" y="1027289"/>
            <a:ext cx="11736729" cy="570089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428979"/>
            <a:ext cx="10515600" cy="609600"/>
          </a:xfrm>
        </p:spPr>
        <p:txBody>
          <a:bodyPr>
            <a:normAutofit/>
          </a:bodyPr>
          <a:lstStyle/>
          <a:p>
            <a:r>
              <a:rPr lang="en-IN" sz="2800" b="1" dirty="0" smtClean="0"/>
              <a:t>Test Health </a:t>
            </a:r>
            <a:r>
              <a:rPr lang="en-IN" sz="2800" b="1" dirty="0"/>
              <a:t>Insurance Assistance AI </a:t>
            </a:r>
            <a:r>
              <a:rPr lang="en-IN" sz="2800" b="1" dirty="0" smtClean="0"/>
              <a:t>Agent </a:t>
            </a:r>
            <a:endParaRPr lang="en-IN"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488" y="1230488"/>
            <a:ext cx="10430933" cy="5339645"/>
          </a:xfrm>
          <a:prstGeom prst="rect">
            <a:avLst/>
          </a:prstGeom>
        </p:spPr>
      </p:pic>
    </p:spTree>
    <p:extLst>
      <p:ext uri="{BB962C8B-B14F-4D97-AF65-F5344CB8AC3E}">
        <p14:creationId xmlns:p14="http://schemas.microsoft.com/office/powerpoint/2010/main" val="646715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428979"/>
            <a:ext cx="10515600" cy="609600"/>
          </a:xfrm>
        </p:spPr>
        <p:txBody>
          <a:bodyPr>
            <a:normAutofit/>
          </a:bodyPr>
          <a:lstStyle/>
          <a:p>
            <a:r>
              <a:rPr lang="en-IN" sz="2800" b="1" dirty="0" smtClean="0"/>
              <a:t>Test-output Health </a:t>
            </a:r>
            <a:r>
              <a:rPr lang="en-IN" sz="2800" b="1" dirty="0"/>
              <a:t>Insurance Assistance AI </a:t>
            </a:r>
            <a:r>
              <a:rPr lang="en-IN" sz="2800" b="1" dirty="0" smtClean="0"/>
              <a:t>Agent </a:t>
            </a:r>
            <a:endParaRPr lang="en-IN" sz="28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850" y="1196622"/>
            <a:ext cx="10515600" cy="5305778"/>
          </a:xfrm>
          <a:prstGeom prst="rect">
            <a:avLst/>
          </a:prstGeom>
        </p:spPr>
      </p:pic>
    </p:spTree>
    <p:extLst>
      <p:ext uri="{BB962C8B-B14F-4D97-AF65-F5344CB8AC3E}">
        <p14:creationId xmlns:p14="http://schemas.microsoft.com/office/powerpoint/2010/main" val="2271349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16758"/>
          </a:xfrm>
          <a:prstGeom prst="rect">
            <a:avLst/>
          </a:prstGeom>
          <a:noFill/>
        </p:spPr>
        <p:txBody>
          <a:bodyPr wrap="square" rtlCol="0">
            <a:spAutoFit/>
          </a:bodyPr>
          <a:lstStyle/>
          <a:p>
            <a:r>
              <a:rPr lang="en-US" sz="1800" b="1" dirty="0"/>
              <a:t>Role of Agentic AI in Nutrition Agent</a:t>
            </a:r>
          </a:p>
          <a:p>
            <a:pPr marL="342900" indent="-342900">
              <a:buAutoNum type="arabicPeriod"/>
            </a:pPr>
            <a:r>
              <a:rPr lang="en-US" sz="1800" b="1" dirty="0" smtClean="0"/>
              <a:t>Intelligent </a:t>
            </a:r>
            <a:r>
              <a:rPr lang="en-US" sz="1800" b="1" dirty="0"/>
              <a:t>User </a:t>
            </a:r>
            <a:r>
              <a:rPr lang="en-US" sz="1800" b="1" dirty="0" smtClean="0"/>
              <a:t>Assessment</a:t>
            </a:r>
          </a:p>
          <a:p>
            <a:r>
              <a:rPr lang="en-US" sz="1800" dirty="0" smtClean="0"/>
              <a:t> Collects </a:t>
            </a:r>
            <a:r>
              <a:rPr lang="en-US" sz="1800" dirty="0"/>
              <a:t>user information such as age, family size, budget, location, and health requirements.</a:t>
            </a:r>
            <a:endParaRPr lang="en-US" sz="1800" b="1" dirty="0"/>
          </a:p>
          <a:p>
            <a:r>
              <a:rPr lang="en-US" sz="1800" b="1" dirty="0" smtClean="0"/>
              <a:t>2</a:t>
            </a:r>
            <a:r>
              <a:rPr lang="en-US" sz="1800" b="1" dirty="0"/>
              <a:t>. Personalized Policy </a:t>
            </a:r>
            <a:r>
              <a:rPr lang="en-US" sz="1800" b="1" dirty="0" smtClean="0"/>
              <a:t>Recommendations</a:t>
            </a:r>
          </a:p>
          <a:p>
            <a:r>
              <a:rPr lang="en-US" sz="1800" dirty="0"/>
              <a:t>Recommends suitable insurance plans based on budget and healthcare needs.</a:t>
            </a:r>
            <a:endParaRPr lang="en-US" sz="1800" b="1" dirty="0"/>
          </a:p>
          <a:p>
            <a:r>
              <a:rPr lang="en-US" sz="1800" b="1" dirty="0" smtClean="0"/>
              <a:t>3</a:t>
            </a:r>
            <a:r>
              <a:rPr lang="en-US" sz="1800" b="1" dirty="0"/>
              <a:t>. Insurance Plan </a:t>
            </a:r>
            <a:r>
              <a:rPr lang="en-US" sz="1800" b="1" dirty="0" smtClean="0"/>
              <a:t>Comparison</a:t>
            </a:r>
          </a:p>
          <a:p>
            <a:r>
              <a:rPr lang="en-US" sz="1800" dirty="0"/>
              <a:t>Presents comparisons in an easy-to-understand format.</a:t>
            </a:r>
            <a:endParaRPr lang="en-US" sz="1800" b="1" dirty="0"/>
          </a:p>
          <a:p>
            <a:r>
              <a:rPr lang="en-US" sz="1800" b="1" dirty="0" smtClean="0"/>
              <a:t>4. </a:t>
            </a:r>
            <a:r>
              <a:rPr lang="en-US" sz="1800" b="1" dirty="0"/>
              <a:t>Claims </a:t>
            </a:r>
            <a:r>
              <a:rPr lang="en-US" sz="1800" b="1" dirty="0" smtClean="0"/>
              <a:t>Assistance</a:t>
            </a:r>
          </a:p>
          <a:p>
            <a:r>
              <a:rPr lang="en-US" sz="1800" dirty="0"/>
              <a:t>Explains cashless and reimbursement claim processes</a:t>
            </a:r>
            <a:endParaRPr lang="en-US" sz="1800" b="1" dirty="0"/>
          </a:p>
          <a:p>
            <a:r>
              <a:rPr lang="en-US" sz="1800" b="1" dirty="0" smtClean="0"/>
              <a:t>5. </a:t>
            </a:r>
            <a:r>
              <a:rPr lang="en-US" sz="1800" b="1" dirty="0"/>
              <a:t>Automated Customer Support</a:t>
            </a:r>
          </a:p>
          <a:p>
            <a:r>
              <a:rPr lang="en-US" sz="1800" dirty="0"/>
              <a:t>Handles frequently asked questions 24/7. </a:t>
            </a:r>
          </a:p>
          <a:p>
            <a:r>
              <a:rPr lang="en-US" sz="1800" b="1" dirty="0" smtClean="0"/>
              <a:t>6. </a:t>
            </a:r>
            <a:r>
              <a:rPr lang="en-US" sz="1800" b="1" dirty="0"/>
              <a:t>Decision </a:t>
            </a:r>
            <a:r>
              <a:rPr lang="en-US" sz="1800" b="1" dirty="0" smtClean="0"/>
              <a:t>Support</a:t>
            </a:r>
          </a:p>
          <a:p>
            <a:r>
              <a:rPr lang="en-US" sz="1800" dirty="0"/>
              <a:t>Supports informed decision-making rather than simply providing information.</a:t>
            </a:r>
            <a:endParaRPr lang="en-US" sz="1800" b="1" dirty="0"/>
          </a:p>
          <a:p>
            <a:r>
              <a:rPr lang="en-US" sz="1800" b="1" dirty="0" smtClean="0"/>
              <a:t>7. </a:t>
            </a:r>
            <a:r>
              <a:rPr lang="en-US" sz="1800" b="1" dirty="0"/>
              <a:t>Continuous </a:t>
            </a:r>
            <a:r>
              <a:rPr lang="en-US" sz="1800" b="1" dirty="0" smtClean="0"/>
              <a:t>Follow-Up</a:t>
            </a:r>
          </a:p>
          <a:p>
            <a:endParaRPr lang="en-U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64351" y="507210"/>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631763"/>
          </a:xfrm>
          <a:prstGeom prst="rect">
            <a:avLst/>
          </a:prstGeom>
          <a:noFill/>
        </p:spPr>
        <p:txBody>
          <a:bodyPr wrap="square" rtlCol="0">
            <a:spAutoFit/>
          </a:bodyPr>
          <a:lstStyle/>
          <a:p>
            <a:r>
              <a:rPr lang="en-IN" sz="1800" dirty="0"/>
              <a:t>The proposed Nutrition Agent stands out by combining </a:t>
            </a:r>
            <a:r>
              <a:rPr lang="en-IN" sz="1800" b="1" dirty="0"/>
              <a:t>Agentic </a:t>
            </a:r>
            <a:r>
              <a:rPr lang="en-IN" sz="1800" b="1" dirty="0" smtClean="0"/>
              <a:t>AI and personalization</a:t>
            </a:r>
            <a:r>
              <a:rPr lang="en-IN" sz="1800" dirty="0" smtClean="0"/>
              <a:t> </a:t>
            </a:r>
            <a:r>
              <a:rPr lang="en-IN" sz="1800" dirty="0"/>
              <a:t>into a single intelligent system.</a:t>
            </a:r>
          </a:p>
          <a:p>
            <a:endParaRPr lang="en-IN" sz="1800" dirty="0"/>
          </a:p>
          <a:p>
            <a:r>
              <a:rPr lang="en-US" sz="1800" b="1" dirty="0"/>
              <a:t>Novelty and </a:t>
            </a:r>
            <a:r>
              <a:rPr lang="en-US" sz="1800" b="1" dirty="0" smtClean="0"/>
              <a:t>Uniqueness</a:t>
            </a:r>
          </a:p>
          <a:p>
            <a:endParaRPr lang="en-IN" sz="1800" b="1" dirty="0"/>
          </a:p>
          <a:p>
            <a:r>
              <a:rPr lang="en-US" sz="1800" dirty="0" smtClean="0"/>
              <a:t>The </a:t>
            </a:r>
            <a:r>
              <a:rPr lang="en-US" sz="1800" dirty="0"/>
              <a:t>Health Insurance Assistant goes beyond traditional insurance </a:t>
            </a:r>
            <a:r>
              <a:rPr lang="en-US" sz="1800" dirty="0" err="1"/>
              <a:t>chatbots</a:t>
            </a:r>
            <a:r>
              <a:rPr lang="en-US" sz="1800" dirty="0"/>
              <a:t> by leveraging </a:t>
            </a:r>
            <a:r>
              <a:rPr lang="en-US" sz="1800" b="1" dirty="0"/>
              <a:t>Agentic AI</a:t>
            </a:r>
            <a:r>
              <a:rPr lang="en-US" sz="1800" dirty="0"/>
              <a:t>, </a:t>
            </a:r>
            <a:r>
              <a:rPr lang="en-US" sz="1800" b="1" dirty="0"/>
              <a:t>personalized decision-making</a:t>
            </a:r>
            <a:r>
              <a:rPr lang="en-US" sz="1800" dirty="0"/>
              <a:t>, and </a:t>
            </a:r>
            <a:r>
              <a:rPr lang="en-US" sz="1800" b="1" dirty="0"/>
              <a:t>Retrieval-Augmented Generation (RAG)</a:t>
            </a:r>
            <a:r>
              <a:rPr lang="en-US" sz="1800" dirty="0"/>
              <a:t> to provide intelligent, context-aware insurance guidance. Instead of simply answering questions, the agent actively understands user requirements, analyzes multiple factors, and recommends suitable insurance solutions.</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smtClean="0">
                <a:solidFill>
                  <a:srgbClr val="2B3541"/>
                </a:solidFill>
                <a:latin typeface="Times New Roman"/>
                <a:ea typeface="Times New Roman"/>
                <a:cs typeface="Times New Roman"/>
                <a:sym typeface="Times New Roman"/>
              </a:rPr>
              <a:t>Github</a:t>
            </a:r>
            <a:r>
              <a:rPr lang="en-US" sz="1850" dirty="0" smtClean="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rPr>
              <a:t>URL </a:t>
            </a:r>
            <a:r>
              <a:rPr lang="en-US" sz="1850"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hlinkClick r:id="rId3"/>
              </a:rPr>
              <a:t>https://</a:t>
            </a:r>
            <a:r>
              <a:rPr lang="en-US" sz="1850" dirty="0" smtClean="0">
                <a:solidFill>
                  <a:srgbClr val="2B3541"/>
                </a:solidFill>
                <a:latin typeface="Times New Roman"/>
                <a:ea typeface="Times New Roman"/>
                <a:cs typeface="Times New Roman"/>
                <a:sym typeface="Times New Roman"/>
                <a:hlinkClick r:id="rId3"/>
              </a:rPr>
              <a:t>github.com/pphad036-prp/HealthAIAgent.git</a:t>
            </a:r>
            <a:endParaRPr lang="en-US" sz="1850" dirty="0" smtClean="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r>
              <a:rPr lang="en-US" sz="1850" dirty="0">
                <a:solidFill>
                  <a:srgbClr val="2B3541"/>
                </a:solidFill>
                <a:latin typeface="Times New Roman"/>
                <a:ea typeface="Times New Roman"/>
                <a:cs typeface="Times New Roman"/>
                <a:sym typeface="Times New Roman"/>
              </a:rPr>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1246</TotalTime>
  <Words>531</Words>
  <Application>Microsoft Office PowerPoint</Application>
  <PresentationFormat>Widescreen</PresentationFormat>
  <Paragraphs>98</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Health Insurance Assistance AI Agent </vt:lpstr>
      <vt:lpstr>Test-output Health Insurance Assistance AI Agent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52</cp:revision>
  <dcterms:created xsi:type="dcterms:W3CDTF">2025-07-08T05:06:56Z</dcterms:created>
  <dcterms:modified xsi:type="dcterms:W3CDTF">2026-06-18T08:27:22Z</dcterms:modified>
</cp:coreProperties>
</file>