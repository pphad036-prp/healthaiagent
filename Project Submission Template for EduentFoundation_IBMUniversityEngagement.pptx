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7"/>
  </p:notesMasterIdLst>
  <p:sldIdLst>
    <p:sldId id="283" r:id="rId2"/>
    <p:sldId id="257" r:id="rId3"/>
    <p:sldId id="282" r:id="rId4"/>
    <p:sldId id="284" r:id="rId5"/>
    <p:sldId id="285" r:id="rId6"/>
    <p:sldId id="288" r:id="rId7"/>
    <p:sldId id="262" r:id="rId8"/>
    <p:sldId id="279" r:id="rId9"/>
    <p:sldId id="289" r:id="rId10"/>
    <p:sldId id="290" r:id="rId11"/>
    <p:sldId id="264" r:id="rId12"/>
    <p:sldId id="286" r:id="rId13"/>
    <p:sldId id="287" r:id="rId14"/>
    <p:sldId id="280" r:id="rId15"/>
    <p:sldId id="276"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5591CF7-6E22-14BF-DB99-3894772A19DF}" v="65" dt="2026-04-21T05:09:31.452"/>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86"/>
  </p:normalViewPr>
  <p:slideViewPr>
    <p:cSldViewPr snapToGrid="0">
      <p:cViewPr varScale="1">
        <p:scale>
          <a:sx n="85" d="100"/>
          <a:sy n="85" d="100"/>
        </p:scale>
        <p:origin x="74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71243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r>
              <a:rPr lang="en-US" b="1" dirty="0"/>
              <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756005761"/>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smtClean="0"/>
                        <a:t>Faculty </a:t>
                      </a:r>
                      <a:r>
                        <a:rPr lang="en-US" sz="1800" u="none" strike="noStrike" cap="none" dirty="0"/>
                        <a:t>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smtClean="0"/>
                        <a:t>Prasad Ramesh </a:t>
                      </a:r>
                      <a:r>
                        <a:rPr lang="en-US" dirty="0" err="1" smtClean="0"/>
                        <a:t>Phad</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smtClean="0"/>
                        <a:t>pphad036@gmail.com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smtClean="0"/>
                        <a:t>7588174461</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2244742" y="1456955"/>
            <a:ext cx="10280254" cy="461665"/>
          </a:xfrm>
          <a:prstGeom prst="rect">
            <a:avLst/>
          </a:prstGeom>
          <a:noFill/>
        </p:spPr>
        <p:txBody>
          <a:bodyPr wrap="square" rtlCol="0">
            <a:spAutoFit/>
          </a:bodyPr>
          <a:lstStyle/>
          <a:p>
            <a:r>
              <a:rPr lang="en-US" sz="2400" b="1" dirty="0"/>
              <a:t>Domain of  Project – </a:t>
            </a:r>
            <a:r>
              <a:rPr lang="en-US" sz="2400" b="1" dirty="0"/>
              <a:t>Healthcare </a:t>
            </a:r>
            <a:endParaRPr lang="en-IN" sz="2400" b="1" dirty="0"/>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IN" sz="2400" b="1" dirty="0"/>
              <a:t>Health Insurance </a:t>
            </a:r>
            <a:r>
              <a:rPr lang="en-IN" sz="2400" b="1" dirty="0" smtClean="0"/>
              <a:t>Assistance AI Agent</a:t>
            </a:r>
            <a:endParaRPr lang="en-IN" sz="2400" b="1"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03529" y="3578579"/>
            <a:ext cx="1246632" cy="11888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539978"/>
          </a:xfrm>
          <a:prstGeom prst="rect">
            <a:avLst/>
          </a:prstGeom>
          <a:noFill/>
        </p:spPr>
        <p:txBody>
          <a:bodyPr wrap="square" rtlCol="0">
            <a:spAutoFit/>
          </a:bodyPr>
          <a:lstStyle/>
          <a:p>
            <a:pPr fontAlgn="base"/>
            <a:endParaRPr lang="en-US" sz="2000" b="1" dirty="0"/>
          </a:p>
          <a:p>
            <a:pPr fontAlgn="base"/>
            <a:r>
              <a:rPr lang="en-US" sz="2000" b="1" dirty="0"/>
              <a:t>The Challenge</a:t>
            </a:r>
            <a:r>
              <a:rPr lang="en-US" sz="2000" dirty="0"/>
              <a:t> </a:t>
            </a:r>
          </a:p>
          <a:p>
            <a:pPr fontAlgn="base"/>
            <a:r>
              <a:rPr lang="en-US" sz="2000" dirty="0"/>
              <a:t>Developing a Health Insurance Assistant AI Agent requires addressing complex insurance terminology, personalized recommendation requirements, data accuracy, regulatory compliance, privacy concerns, and real-time policy updates while ensuring reliable, secure, and user-friendly assistance for policy selection, comparison, and claims support.</a:t>
            </a:r>
            <a:endParaRPr lang="en-US" sz="2000" dirty="0"/>
          </a:p>
          <a:p>
            <a:pPr fontAlgn="base"/>
            <a:r>
              <a:rPr lang="en-US" sz="2000" dirty="0"/>
              <a:t> </a:t>
            </a:r>
            <a:endParaRPr lang="en-US" sz="2000" dirty="0" smtClean="0"/>
          </a:p>
          <a:p>
            <a:pPr fontAlgn="base"/>
            <a:endParaRPr lang="en-US" sz="2000" dirty="0"/>
          </a:p>
          <a:p>
            <a:pPr fontAlgn="base"/>
            <a:r>
              <a:rPr lang="en-US" sz="2000" b="1" dirty="0"/>
              <a:t>The Objective</a:t>
            </a:r>
            <a:endParaRPr lang="en-US" sz="2000" dirty="0"/>
          </a:p>
          <a:p>
            <a:pPr lvl="0" eaLnBrk="0" fontAlgn="base" hangingPunct="0">
              <a:spcBef>
                <a:spcPct val="0"/>
              </a:spcBef>
              <a:spcAft>
                <a:spcPct val="0"/>
              </a:spcAft>
              <a:buClrTx/>
              <a:buFontTx/>
              <a:buChar char="•"/>
            </a:pPr>
            <a:r>
              <a:rPr lang="en-US" altLang="en-US" sz="2000" dirty="0">
                <a:solidFill>
                  <a:schemeClr val="tx1"/>
                </a:solidFill>
                <a:latin typeface="Arial" panose="020B0604020202020204" pitchFamily="34" charset="0"/>
              </a:rPr>
              <a:t>Simplify health insurance information for customers. </a:t>
            </a:r>
          </a:p>
          <a:p>
            <a:pPr lvl="0" eaLnBrk="0" fontAlgn="base" hangingPunct="0">
              <a:spcBef>
                <a:spcPct val="0"/>
              </a:spcBef>
              <a:spcAft>
                <a:spcPct val="0"/>
              </a:spcAft>
              <a:buClrTx/>
              <a:buFontTx/>
              <a:buChar char="•"/>
            </a:pPr>
            <a:r>
              <a:rPr lang="en-US" altLang="en-US" sz="2000" dirty="0">
                <a:solidFill>
                  <a:schemeClr val="tx1"/>
                </a:solidFill>
                <a:latin typeface="Arial" panose="020B0604020202020204" pitchFamily="34" charset="0"/>
              </a:rPr>
              <a:t>Help users compare and select appropriate insurance plans. </a:t>
            </a:r>
          </a:p>
          <a:p>
            <a:pPr lvl="0" eaLnBrk="0" fontAlgn="base" hangingPunct="0">
              <a:spcBef>
                <a:spcPct val="0"/>
              </a:spcBef>
              <a:spcAft>
                <a:spcPct val="0"/>
              </a:spcAft>
              <a:buClrTx/>
              <a:buFontTx/>
              <a:buChar char="•"/>
            </a:pPr>
            <a:r>
              <a:rPr lang="en-US" altLang="en-US" sz="2000" dirty="0">
                <a:solidFill>
                  <a:schemeClr val="tx1"/>
                </a:solidFill>
                <a:latin typeface="Arial" panose="020B0604020202020204" pitchFamily="34" charset="0"/>
              </a:rPr>
              <a:t>Provide personalized recommendations based on user needs and budget. </a:t>
            </a:r>
          </a:p>
          <a:p>
            <a:pPr lvl="0" eaLnBrk="0" fontAlgn="base" hangingPunct="0">
              <a:spcBef>
                <a:spcPct val="0"/>
              </a:spcBef>
              <a:spcAft>
                <a:spcPct val="0"/>
              </a:spcAft>
              <a:buClrTx/>
              <a:buFontTx/>
              <a:buChar char="•"/>
            </a:pPr>
            <a:r>
              <a:rPr lang="en-US" altLang="en-US" sz="2000" dirty="0">
                <a:solidFill>
                  <a:schemeClr val="tx1"/>
                </a:solidFill>
                <a:latin typeface="Arial" panose="020B0604020202020204" pitchFamily="34" charset="0"/>
              </a:rPr>
              <a:t>Guide users through policy enrollment and renewal processes. </a:t>
            </a:r>
          </a:p>
          <a:p>
            <a:pPr lvl="0" eaLnBrk="0" fontAlgn="base" hangingPunct="0">
              <a:spcBef>
                <a:spcPct val="0"/>
              </a:spcBef>
              <a:spcAft>
                <a:spcPct val="0"/>
              </a:spcAft>
              <a:buClrTx/>
              <a:buFontTx/>
              <a:buChar char="•"/>
            </a:pPr>
            <a:r>
              <a:rPr lang="en-US" altLang="en-US" sz="2000" dirty="0">
                <a:solidFill>
                  <a:schemeClr val="tx1"/>
                </a:solidFill>
                <a:latin typeface="Arial" panose="020B0604020202020204" pitchFamily="34" charset="0"/>
              </a:rPr>
              <a:t>Assist customers with claim procedures and required documentation. </a:t>
            </a:r>
          </a:p>
          <a:p>
            <a:pPr lvl="0" eaLnBrk="0" fontAlgn="base" hangingPunct="0">
              <a:spcBef>
                <a:spcPct val="0"/>
              </a:spcBef>
              <a:spcAft>
                <a:spcPct val="0"/>
              </a:spcAft>
              <a:buClrTx/>
              <a:buFontTx/>
              <a:buChar char="•"/>
            </a:pPr>
            <a:r>
              <a:rPr lang="en-US" altLang="en-US" sz="2000" dirty="0">
                <a:solidFill>
                  <a:schemeClr val="tx1"/>
                </a:solidFill>
                <a:latin typeface="Arial" panose="020B0604020202020204" pitchFamily="34" charset="0"/>
              </a:rPr>
              <a:t>Offer instant responses to common insurance-related questions. </a:t>
            </a:r>
          </a:p>
          <a:p>
            <a:pPr lvl="0" eaLnBrk="0" fontAlgn="base" hangingPunct="0">
              <a:spcBef>
                <a:spcPct val="0"/>
              </a:spcBef>
              <a:spcAft>
                <a:spcPct val="0"/>
              </a:spcAft>
              <a:buClrTx/>
              <a:buFontTx/>
              <a:buChar char="•"/>
            </a:pPr>
            <a:r>
              <a:rPr lang="en-US" altLang="en-US" sz="2000" dirty="0">
                <a:solidFill>
                  <a:schemeClr val="tx1"/>
                </a:solidFill>
                <a:latin typeface="Arial" panose="020B0604020202020204" pitchFamily="34" charset="0"/>
              </a:rPr>
              <a:t>Improve customer engagement and satisfaction. </a:t>
            </a:r>
          </a:p>
          <a:p>
            <a:pPr lvl="0" eaLnBrk="0" fontAlgn="base" hangingPunct="0">
              <a:spcBef>
                <a:spcPct val="0"/>
              </a:spcBef>
              <a:spcAft>
                <a:spcPct val="0"/>
              </a:spcAft>
              <a:buClrTx/>
              <a:buFontTx/>
              <a:buChar char="•"/>
            </a:pPr>
            <a:r>
              <a:rPr lang="en-US" altLang="en-US" sz="2000" dirty="0">
                <a:solidFill>
                  <a:schemeClr val="tx1"/>
                </a:solidFill>
                <a:latin typeface="Arial" panose="020B0604020202020204" pitchFamily="34" charset="0"/>
              </a:rPr>
              <a:t>Reduce support workload for insurance companies. </a:t>
            </a:r>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1" y="704088"/>
            <a:ext cx="11074061" cy="1938992"/>
          </a:xfrm>
          <a:prstGeom prst="rect">
            <a:avLst/>
          </a:prstGeom>
          <a:noFill/>
        </p:spPr>
        <p:txBody>
          <a:bodyPr wrap="square" rtlCol="0">
            <a:spAutoFit/>
          </a:bodyPr>
          <a:lstStyle/>
          <a:p>
            <a:pPr fontAlgn="base"/>
            <a:r>
              <a:rPr lang="en-US" sz="2400" b="1" dirty="0"/>
              <a:t>Problem Statement </a:t>
            </a:r>
            <a:r>
              <a:rPr lang="en-US" sz="2400" b="1" dirty="0" smtClean="0"/>
              <a:t>-</a:t>
            </a:r>
            <a:r>
              <a:rPr lang="en-US" sz="2400" dirty="0"/>
              <a:t>AI-Powered Health Insurance Assistant for Simplifying Insurance Selection, Claims, and Policy Understanding</a:t>
            </a:r>
          </a:p>
          <a:p>
            <a:pPr fontAlgn="base"/>
            <a:endParaRPr lang="en-US" sz="2400" b="1" dirty="0" smtClean="0"/>
          </a:p>
          <a:p>
            <a:pPr fontAlgn="base"/>
            <a:endParaRPr lang="en-US" sz="2400" b="1" dirty="0"/>
          </a:p>
          <a:p>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790560" y="1165753"/>
            <a:ext cx="10607040" cy="3970318"/>
          </a:xfrm>
          <a:prstGeom prst="rect">
            <a:avLst/>
          </a:prstGeom>
          <a:noFill/>
        </p:spPr>
        <p:txBody>
          <a:bodyPr wrap="square" rtlCol="0">
            <a:spAutoFit/>
          </a:bodyPr>
          <a:lstStyle/>
          <a:p>
            <a:pPr fontAlgn="base"/>
            <a:endParaRPr lang="en-US" b="1" dirty="0"/>
          </a:p>
          <a:p>
            <a:pPr fontAlgn="base"/>
            <a:r>
              <a:rPr lang="en-IN" b="1" dirty="0"/>
              <a:t>Tech Stack (Mandatory)</a:t>
            </a:r>
            <a:r>
              <a:rPr lang="en-IN" dirty="0"/>
              <a:t> </a:t>
            </a:r>
            <a:endParaRPr lang="en-IN" dirty="0" smtClean="0"/>
          </a:p>
          <a:p>
            <a:pPr fontAlgn="base"/>
            <a:endParaRPr lang="en-US" dirty="0"/>
          </a:p>
          <a:p>
            <a:pPr fontAlgn="base"/>
            <a:endParaRPr lang="en-IN" dirty="0"/>
          </a:p>
          <a:p>
            <a:pPr fontAlgn="base"/>
            <a:r>
              <a:rPr lang="en-IN" dirty="0"/>
              <a:t>Use </a:t>
            </a:r>
            <a:r>
              <a:rPr lang="en-IN" b="1" dirty="0"/>
              <a:t>any one</a:t>
            </a:r>
            <a:r>
              <a:rPr lang="en-IN" dirty="0"/>
              <a:t> of the following approaches: </a:t>
            </a:r>
          </a:p>
          <a:p>
            <a:pPr fontAlgn="base"/>
            <a:r>
              <a:rPr lang="en-IN" dirty="0"/>
              <a:t>  </a:t>
            </a:r>
          </a:p>
          <a:p>
            <a:pPr marL="285750" indent="-285750" fontAlgn="base">
              <a:buFont typeface="Arial" panose="020B0604020202020204" pitchFamily="34" charset="0"/>
              <a:buChar char="•"/>
            </a:pPr>
            <a:endParaRPr lang="en-IN" dirty="0"/>
          </a:p>
          <a:p>
            <a:pPr marL="342900" indent="-342900" fontAlgn="base">
              <a:lnSpc>
                <a:spcPct val="200000"/>
              </a:lnSpc>
              <a:buFont typeface="+mj-lt"/>
              <a:buAutoNum type="arabicPeriod"/>
            </a:pPr>
            <a:r>
              <a:rPr lang="en-IN" dirty="0"/>
              <a:t>IBM </a:t>
            </a:r>
            <a:r>
              <a:rPr lang="en-IN" dirty="0" smtClean="0"/>
              <a:t>Cloud</a:t>
            </a:r>
          </a:p>
          <a:p>
            <a:pPr marL="342900" indent="-342900" fontAlgn="base">
              <a:lnSpc>
                <a:spcPct val="200000"/>
              </a:lnSpc>
              <a:buFont typeface="+mj-lt"/>
              <a:buAutoNum type="arabicPeriod"/>
            </a:pPr>
            <a:r>
              <a:rPr lang="en-IN" dirty="0" smtClean="0"/>
              <a:t>watsonx.ai studio</a:t>
            </a:r>
          </a:p>
          <a:p>
            <a:pPr marL="342900" indent="-342900" fontAlgn="base">
              <a:lnSpc>
                <a:spcPct val="200000"/>
              </a:lnSpc>
              <a:buFont typeface="+mj-lt"/>
              <a:buAutoNum type="arabicPeriod"/>
            </a:pPr>
            <a:r>
              <a:rPr lang="en-IN" dirty="0" smtClean="0"/>
              <a:t>Watson-orchestrate </a:t>
            </a:r>
            <a:r>
              <a:rPr lang="en-IN" dirty="0">
                <a:highlight>
                  <a:srgbClr val="FFFF00"/>
                </a:highlight>
              </a:rPr>
              <a:t> </a:t>
            </a:r>
          </a:p>
          <a:p>
            <a:pPr fontAlgn="base"/>
            <a:endParaRPr lang="en-IN" dirty="0"/>
          </a:p>
          <a:p>
            <a:pPr marL="285750" indent="-285750" fontAlgn="base">
              <a:buFont typeface="Arial" panose="020B0604020202020204" pitchFamily="34" charset="0"/>
              <a:buChar char="•"/>
            </a:pPr>
            <a:endParaRPr lang="en-IN" dirty="0"/>
          </a:p>
          <a:p>
            <a:pPr fontAlgn="base"/>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1384995"/>
          </a:xfrm>
          <a:prstGeom prst="rect">
            <a:avLst/>
          </a:prstGeom>
          <a:noFill/>
        </p:spPr>
        <p:txBody>
          <a:bodyPr wrap="square" rtlCol="0">
            <a:spAutoFit/>
          </a:bodyPr>
          <a:lstStyle/>
          <a:p>
            <a:pPr fontAlgn="base"/>
            <a:endParaRPr lang="en-US" b="1" dirty="0"/>
          </a:p>
          <a:p>
            <a:r>
              <a:rPr lang="en-US" b="1" dirty="0"/>
              <a:t>Proposed Solution: </a:t>
            </a:r>
            <a:r>
              <a:rPr lang="en-IN" b="1" dirty="0"/>
              <a:t>Health Insurance Assistance AI </a:t>
            </a:r>
            <a:r>
              <a:rPr lang="en-IN" b="1" dirty="0" smtClean="0"/>
              <a:t>Agent</a:t>
            </a:r>
          </a:p>
          <a:p>
            <a:endParaRPr lang="en-US" b="1" dirty="0"/>
          </a:p>
          <a:p>
            <a:r>
              <a:rPr lang="en-US" dirty="0"/>
              <a:t>The proposed solution is a </a:t>
            </a:r>
            <a:r>
              <a:rPr lang="en-US" b="1" dirty="0"/>
              <a:t>multi-agent AI-powered </a:t>
            </a:r>
            <a:r>
              <a:rPr lang="en-US" b="1" dirty="0" smtClean="0"/>
              <a:t>Nutrition Agent</a:t>
            </a:r>
            <a:r>
              <a:rPr lang="en-US" dirty="0" smtClean="0"/>
              <a:t> built using </a:t>
            </a:r>
            <a:r>
              <a:rPr lang="en-IN" b="1" dirty="0"/>
              <a:t>IBM cloud,  IBM watsonx.ai, Watson-orchestrate </a:t>
            </a:r>
            <a:r>
              <a:rPr lang="en-US" dirty="0"/>
              <a:t>to </a:t>
            </a:r>
            <a:r>
              <a:rPr lang="en-US" dirty="0"/>
              <a:t>provide </a:t>
            </a:r>
            <a:r>
              <a:rPr lang="en-US" dirty="0"/>
              <a:t>solution of the problem statements</a:t>
            </a:r>
            <a:r>
              <a:rPr lang="en-US" b="1" dirty="0"/>
              <a:t>.</a:t>
            </a:r>
          </a:p>
          <a:p>
            <a:endParaRPr lang="en-US"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
        <p:nvSpPr>
          <p:cNvPr id="6" name="Rectangle 3"/>
          <p:cNvSpPr>
            <a:spLocks noChangeArrowheads="1"/>
          </p:cNvSpPr>
          <p:nvPr/>
        </p:nvSpPr>
        <p:spPr bwMode="auto">
          <a:xfrm>
            <a:off x="959555" y="2688122"/>
            <a:ext cx="9640711"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buClrTx/>
            </a:pPr>
            <a:r>
              <a:rPr lang="en-IN" sz="1800" b="1" dirty="0"/>
              <a:t>Use Cases</a:t>
            </a:r>
            <a:endParaRPr kumimoji="0" lang="en-US" altLang="en-US" sz="1800" b="1" i="0" u="none" strike="noStrike" cap="none" normalizeH="0" baseline="0" dirty="0" smtClean="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0" i="0" u="none" strike="noStrike" cap="none" normalizeH="0" baseline="0" dirty="0" smtClean="0">
                <a:ln>
                  <a:noFill/>
                </a:ln>
                <a:solidFill>
                  <a:schemeClr val="tx1"/>
                </a:solidFill>
                <a:effectLst/>
                <a:latin typeface="Arial" panose="020B0604020202020204" pitchFamily="34" charset="0"/>
              </a:rPr>
              <a:t>Comparison of multiple health insurance plans.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0" i="0" u="none" strike="noStrike" cap="none" normalizeH="0" baseline="0" dirty="0" smtClean="0">
                <a:ln>
                  <a:noFill/>
                </a:ln>
                <a:solidFill>
                  <a:schemeClr val="tx1"/>
                </a:solidFill>
                <a:effectLst/>
                <a:latin typeface="Arial" panose="020B0604020202020204" pitchFamily="34" charset="0"/>
              </a:rPr>
              <a:t>Claims assistance and documentation guidance.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0" i="0" u="none" strike="noStrike" cap="none" normalizeH="0" baseline="0" dirty="0" smtClean="0">
                <a:ln>
                  <a:noFill/>
                </a:ln>
                <a:solidFill>
                  <a:schemeClr val="tx1"/>
                </a:solidFill>
                <a:effectLst/>
                <a:latin typeface="Arial" panose="020B0604020202020204" pitchFamily="34" charset="0"/>
              </a:rPr>
              <a:t>Explanation of premiums, deductibles, and waiting periods.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0" i="0" u="none" strike="noStrike" cap="none" normalizeH="0" baseline="0" dirty="0" smtClean="0">
                <a:ln>
                  <a:noFill/>
                </a:ln>
                <a:solidFill>
                  <a:schemeClr val="tx1"/>
                </a:solidFill>
                <a:effectLst/>
                <a:latin typeface="Arial" panose="020B0604020202020204" pitchFamily="34" charset="0"/>
              </a:rPr>
              <a:t>Network hospital lookup and coverage information.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0" i="0" u="none" strike="noStrike" cap="none" normalizeH="0" baseline="0" dirty="0" smtClean="0">
                <a:ln>
                  <a:noFill/>
                </a:ln>
                <a:solidFill>
                  <a:schemeClr val="tx1"/>
                </a:solidFill>
                <a:effectLst/>
                <a:latin typeface="Arial" panose="020B0604020202020204" pitchFamily="34" charset="0"/>
              </a:rPr>
              <a:t>Policy renewal reminders and support.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0" i="0" u="none" strike="noStrike" cap="none" normalizeH="0" baseline="0" dirty="0" smtClean="0">
                <a:ln>
                  <a:noFill/>
                </a:ln>
                <a:solidFill>
                  <a:schemeClr val="tx1"/>
                </a:solidFill>
                <a:effectLst/>
                <a:latin typeface="Arial" panose="020B0604020202020204" pitchFamily="34" charset="0"/>
              </a:rPr>
              <a:t>Frequently Asked Questions (FAQ) automation.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0" i="0" u="none" strike="noStrike" cap="none" normalizeH="0" baseline="0" dirty="0" smtClean="0">
                <a:ln>
                  <a:noFill/>
                </a:ln>
                <a:solidFill>
                  <a:schemeClr val="tx1"/>
                </a:solidFill>
                <a:effectLst/>
                <a:latin typeface="Arial" panose="020B0604020202020204" pitchFamily="34" charset="0"/>
              </a:rPr>
              <a:t>Policy recommendation based on age, family size, and budget. </a:t>
            </a:r>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IN" sz="2400" dirty="0"/>
              <a:t>IBM </a:t>
            </a:r>
            <a:r>
              <a:rPr lang="en-IN" sz="2400" dirty="0" smtClean="0"/>
              <a:t>Cloud Workflow</a:t>
            </a:r>
            <a:endParaRPr lang="en-IN" sz="2400" dirty="0"/>
          </a:p>
          <a:p>
            <a:pPr lvl="0"/>
            <a:endParaRPr lang="en-US" sz="2400"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1200" y="925688"/>
            <a:ext cx="10826044" cy="5689601"/>
          </a:xfrm>
          <a:prstGeom prst="rect">
            <a:avLst/>
          </a:prstGeom>
        </p:spPr>
      </p:pic>
    </p:spTree>
    <p:extLst>
      <p:ext uri="{BB962C8B-B14F-4D97-AF65-F5344CB8AC3E}">
        <p14:creationId xmlns:p14="http://schemas.microsoft.com/office/powerpoint/2010/main" val="14465756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869244" y="323239"/>
            <a:ext cx="8252178" cy="448508"/>
          </a:xfrm>
          <a:prstGeom prst="rect">
            <a:avLst/>
          </a:prstGeom>
          <a:noFill/>
          <a:ln>
            <a:noFill/>
          </a:ln>
        </p:spPr>
        <p:txBody>
          <a:bodyPr spcFirstLastPara="1" wrap="square" lIns="0" tIns="0" rIns="0" bIns="0" anchor="t" anchorCtr="0">
            <a:noAutofit/>
          </a:bodyPr>
          <a:lstStyle/>
          <a:p>
            <a:r>
              <a:rPr lang="en-IN" sz="2400" dirty="0"/>
              <a:t>watsonx.ai </a:t>
            </a:r>
            <a:r>
              <a:rPr lang="en-IN" sz="2400" dirty="0" smtClean="0"/>
              <a:t>studio workflow</a:t>
            </a:r>
            <a:endParaRPr lang="en-IN" sz="2400" dirty="0"/>
          </a:p>
          <a:p>
            <a:pPr lvl="0"/>
            <a:endParaRPr lang="en-US" sz="2400" dirty="0"/>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8622" y="1038578"/>
            <a:ext cx="10690578" cy="581942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buClr>
                <a:srgbClr val="051D3A"/>
              </a:buClr>
              <a:buSzPts val="3500"/>
            </a:pPr>
            <a:r>
              <a:rPr lang="en-US" sz="3500" b="1" i="0" u="none" strike="noStrike" cap="none" dirty="0" smtClean="0">
                <a:solidFill>
                  <a:srgbClr val="051D3A"/>
                </a:solidFill>
                <a:latin typeface="Times New Roman"/>
                <a:ea typeface="Times New Roman"/>
                <a:cs typeface="Times New Roman"/>
                <a:sym typeface="Times New Roman"/>
              </a:rPr>
              <a:t> </a:t>
            </a:r>
            <a:r>
              <a:rPr lang="en-IN" sz="2400" b="1" dirty="0" smtClean="0"/>
              <a:t> </a:t>
            </a:r>
            <a:r>
              <a:rPr lang="en-IN" sz="2400" b="1" dirty="0"/>
              <a:t>Watson-orchestrate </a:t>
            </a:r>
            <a:r>
              <a:rPr lang="en-US" sz="2400" b="1" dirty="0" smtClean="0">
                <a:sym typeface="Times New Roman"/>
              </a:rPr>
              <a:t>workflow </a:t>
            </a:r>
            <a:r>
              <a:rPr lang="en-US" sz="2400" b="1" dirty="0">
                <a:sym typeface="Times New Roman"/>
              </a:rPr>
              <a:t>-</a:t>
            </a:r>
            <a:endParaRPr sz="2400" b="1" dirty="0">
              <a:sym typeface="Times New Roman"/>
            </a:endParaRPr>
          </a:p>
        </p:txBody>
      </p:sp>
      <p:pic>
        <p:nvPicPr>
          <p:cNvPr id="4" name="Picture 3"/>
          <p:cNvPicPr>
            <a:picLocks noChangeAspect="1"/>
          </p:cNvPicPr>
          <p:nvPr/>
        </p:nvPicPr>
        <p:blipFill>
          <a:blip r:embed="rId3"/>
          <a:stretch>
            <a:fillRect/>
          </a:stretch>
        </p:blipFill>
        <p:spPr>
          <a:xfrm>
            <a:off x="216083" y="1027289"/>
            <a:ext cx="11736729" cy="5700890"/>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28979"/>
            <a:ext cx="10515600" cy="609600"/>
          </a:xfrm>
        </p:spPr>
        <p:txBody>
          <a:bodyPr>
            <a:normAutofit/>
          </a:bodyPr>
          <a:lstStyle/>
          <a:p>
            <a:r>
              <a:rPr lang="en-IN" sz="2800" b="1" dirty="0" smtClean="0"/>
              <a:t>Test Health </a:t>
            </a:r>
            <a:r>
              <a:rPr lang="en-IN" sz="2800" b="1" dirty="0"/>
              <a:t>Insurance Assistance AI </a:t>
            </a:r>
            <a:r>
              <a:rPr lang="en-IN" sz="2800" b="1" dirty="0" smtClean="0"/>
              <a:t>Agent </a:t>
            </a:r>
            <a:endParaRPr lang="en-IN" sz="2800"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2488" y="1230488"/>
            <a:ext cx="10430933" cy="5339645"/>
          </a:xfrm>
          <a:prstGeom prst="rect">
            <a:avLst/>
          </a:prstGeom>
        </p:spPr>
      </p:pic>
    </p:spTree>
    <p:extLst>
      <p:ext uri="{BB962C8B-B14F-4D97-AF65-F5344CB8AC3E}">
        <p14:creationId xmlns:p14="http://schemas.microsoft.com/office/powerpoint/2010/main" val="6467152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28979"/>
            <a:ext cx="10515600" cy="609600"/>
          </a:xfrm>
        </p:spPr>
        <p:txBody>
          <a:bodyPr>
            <a:normAutofit/>
          </a:bodyPr>
          <a:lstStyle/>
          <a:p>
            <a:r>
              <a:rPr lang="en-IN" sz="2800" b="1" dirty="0" smtClean="0"/>
              <a:t>Test-output Health </a:t>
            </a:r>
            <a:r>
              <a:rPr lang="en-IN" sz="2800" b="1" dirty="0"/>
              <a:t>Insurance Assistance AI </a:t>
            </a:r>
            <a:r>
              <a:rPr lang="en-IN" sz="2800" b="1" dirty="0" smtClean="0"/>
              <a:t>Agent </a:t>
            </a:r>
            <a:endParaRPr lang="en-IN" sz="2800"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1850" y="1196622"/>
            <a:ext cx="10515600" cy="5305778"/>
          </a:xfrm>
          <a:prstGeom prst="rect">
            <a:avLst/>
          </a:prstGeom>
        </p:spPr>
      </p:pic>
    </p:spTree>
    <p:extLst>
      <p:ext uri="{BB962C8B-B14F-4D97-AF65-F5344CB8AC3E}">
        <p14:creationId xmlns:p14="http://schemas.microsoft.com/office/powerpoint/2010/main" val="2271349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5016758"/>
          </a:xfrm>
          <a:prstGeom prst="rect">
            <a:avLst/>
          </a:prstGeom>
          <a:noFill/>
        </p:spPr>
        <p:txBody>
          <a:bodyPr wrap="square" rtlCol="0">
            <a:spAutoFit/>
          </a:bodyPr>
          <a:lstStyle/>
          <a:p>
            <a:r>
              <a:rPr lang="en-US" sz="1800" b="1" dirty="0"/>
              <a:t>Role of Agentic AI in Nutrition Agent</a:t>
            </a:r>
          </a:p>
          <a:p>
            <a:pPr marL="342900" indent="-342900">
              <a:buAutoNum type="arabicPeriod"/>
            </a:pPr>
            <a:r>
              <a:rPr lang="en-US" sz="1800" b="1" dirty="0" smtClean="0"/>
              <a:t>Intelligent </a:t>
            </a:r>
            <a:r>
              <a:rPr lang="en-US" sz="1800" b="1" dirty="0"/>
              <a:t>User </a:t>
            </a:r>
            <a:r>
              <a:rPr lang="en-US" sz="1800" b="1" dirty="0" smtClean="0"/>
              <a:t>Assessment</a:t>
            </a:r>
          </a:p>
          <a:p>
            <a:r>
              <a:rPr lang="en-US" sz="1800" dirty="0" smtClean="0"/>
              <a:t> Collects </a:t>
            </a:r>
            <a:r>
              <a:rPr lang="en-US" sz="1800" dirty="0"/>
              <a:t>user information such as age, family size, budget, location, and health requirements.</a:t>
            </a:r>
            <a:endParaRPr lang="en-US" sz="1800" b="1" dirty="0"/>
          </a:p>
          <a:p>
            <a:r>
              <a:rPr lang="en-US" sz="1800" b="1" dirty="0" smtClean="0"/>
              <a:t>2</a:t>
            </a:r>
            <a:r>
              <a:rPr lang="en-US" sz="1800" b="1" dirty="0"/>
              <a:t>. Personalized Policy </a:t>
            </a:r>
            <a:r>
              <a:rPr lang="en-US" sz="1800" b="1" dirty="0" smtClean="0"/>
              <a:t>Recommendations</a:t>
            </a:r>
          </a:p>
          <a:p>
            <a:r>
              <a:rPr lang="en-US" sz="1800" dirty="0"/>
              <a:t>Recommends suitable insurance plans based on budget and healthcare needs.</a:t>
            </a:r>
            <a:endParaRPr lang="en-US" sz="1800" b="1" dirty="0"/>
          </a:p>
          <a:p>
            <a:r>
              <a:rPr lang="en-US" sz="1800" b="1" dirty="0" smtClean="0"/>
              <a:t>3</a:t>
            </a:r>
            <a:r>
              <a:rPr lang="en-US" sz="1800" b="1" dirty="0"/>
              <a:t>. Insurance Plan </a:t>
            </a:r>
            <a:r>
              <a:rPr lang="en-US" sz="1800" b="1" dirty="0" smtClean="0"/>
              <a:t>Comparison</a:t>
            </a:r>
          </a:p>
          <a:p>
            <a:r>
              <a:rPr lang="en-US" sz="1800" dirty="0"/>
              <a:t>Presents comparisons in an easy-to-understand format.</a:t>
            </a:r>
            <a:endParaRPr lang="en-US" sz="1800" b="1" dirty="0"/>
          </a:p>
          <a:p>
            <a:r>
              <a:rPr lang="en-US" sz="1800" b="1" dirty="0" smtClean="0"/>
              <a:t>4. </a:t>
            </a:r>
            <a:r>
              <a:rPr lang="en-US" sz="1800" b="1" dirty="0"/>
              <a:t>Claims </a:t>
            </a:r>
            <a:r>
              <a:rPr lang="en-US" sz="1800" b="1" dirty="0" smtClean="0"/>
              <a:t>Assistance</a:t>
            </a:r>
          </a:p>
          <a:p>
            <a:r>
              <a:rPr lang="en-US" sz="1800" dirty="0"/>
              <a:t>Explains cashless and reimbursement claim processes</a:t>
            </a:r>
            <a:endParaRPr lang="en-US" sz="1800" b="1" dirty="0"/>
          </a:p>
          <a:p>
            <a:r>
              <a:rPr lang="en-US" sz="1800" b="1" dirty="0" smtClean="0"/>
              <a:t>5. </a:t>
            </a:r>
            <a:r>
              <a:rPr lang="en-US" sz="1800" b="1" dirty="0"/>
              <a:t>Automated Customer Support</a:t>
            </a:r>
          </a:p>
          <a:p>
            <a:r>
              <a:rPr lang="en-US" sz="1800" dirty="0"/>
              <a:t>Handles frequently asked questions 24/7. </a:t>
            </a:r>
          </a:p>
          <a:p>
            <a:r>
              <a:rPr lang="en-US" sz="1800" b="1" dirty="0" smtClean="0"/>
              <a:t>6. </a:t>
            </a:r>
            <a:r>
              <a:rPr lang="en-US" sz="1800" b="1" dirty="0"/>
              <a:t>Decision </a:t>
            </a:r>
            <a:r>
              <a:rPr lang="en-US" sz="1800" b="1" dirty="0" smtClean="0"/>
              <a:t>Support</a:t>
            </a:r>
          </a:p>
          <a:p>
            <a:r>
              <a:rPr lang="en-US" sz="1800" dirty="0"/>
              <a:t>Supports informed decision-making rather than simply providing information.</a:t>
            </a:r>
            <a:endParaRPr lang="en-US" sz="1800" b="1" dirty="0"/>
          </a:p>
          <a:p>
            <a:r>
              <a:rPr lang="en-US" sz="1800" b="1" dirty="0" smtClean="0"/>
              <a:t>7. </a:t>
            </a:r>
            <a:r>
              <a:rPr lang="en-US" sz="1800" b="1" dirty="0"/>
              <a:t>Continuous </a:t>
            </a:r>
            <a:r>
              <a:rPr lang="en-US" sz="1800" b="1" dirty="0" smtClean="0"/>
              <a:t>Follow-Up</a:t>
            </a:r>
          </a:p>
          <a:p>
            <a:endParaRPr lang="en-US" b="1"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664351" y="507210"/>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3631763"/>
          </a:xfrm>
          <a:prstGeom prst="rect">
            <a:avLst/>
          </a:prstGeom>
          <a:noFill/>
        </p:spPr>
        <p:txBody>
          <a:bodyPr wrap="square" rtlCol="0">
            <a:spAutoFit/>
          </a:bodyPr>
          <a:lstStyle/>
          <a:p>
            <a:r>
              <a:rPr lang="en-IN" sz="1800" dirty="0"/>
              <a:t>The proposed Nutrition Agent stands out by combining </a:t>
            </a:r>
            <a:r>
              <a:rPr lang="en-IN" sz="1800" b="1" dirty="0"/>
              <a:t>Agentic </a:t>
            </a:r>
            <a:r>
              <a:rPr lang="en-IN" sz="1800" b="1" dirty="0" smtClean="0"/>
              <a:t>AI and personalization</a:t>
            </a:r>
            <a:r>
              <a:rPr lang="en-IN" sz="1800" dirty="0" smtClean="0"/>
              <a:t> </a:t>
            </a:r>
            <a:r>
              <a:rPr lang="en-IN" sz="1800" dirty="0"/>
              <a:t>into a single intelligent system.</a:t>
            </a:r>
          </a:p>
          <a:p>
            <a:endParaRPr lang="en-IN" sz="1800" dirty="0"/>
          </a:p>
          <a:p>
            <a:r>
              <a:rPr lang="en-US" sz="1800" b="1" dirty="0"/>
              <a:t>Novelty and </a:t>
            </a:r>
            <a:r>
              <a:rPr lang="en-US" sz="1800" b="1" dirty="0" smtClean="0"/>
              <a:t>Uniqueness</a:t>
            </a:r>
          </a:p>
          <a:p>
            <a:endParaRPr lang="en-IN" sz="1800" b="1" dirty="0"/>
          </a:p>
          <a:p>
            <a:r>
              <a:rPr lang="en-US" sz="1800" dirty="0" smtClean="0"/>
              <a:t>The </a:t>
            </a:r>
            <a:r>
              <a:rPr lang="en-US" sz="1800" dirty="0"/>
              <a:t>Health Insurance Assistant goes beyond traditional insurance </a:t>
            </a:r>
            <a:r>
              <a:rPr lang="en-US" sz="1800" dirty="0" err="1"/>
              <a:t>chatbots</a:t>
            </a:r>
            <a:r>
              <a:rPr lang="en-US" sz="1800" dirty="0"/>
              <a:t> by leveraging </a:t>
            </a:r>
            <a:r>
              <a:rPr lang="en-US" sz="1800" b="1" dirty="0"/>
              <a:t>Agentic AI</a:t>
            </a:r>
            <a:r>
              <a:rPr lang="en-US" sz="1800" dirty="0"/>
              <a:t>, </a:t>
            </a:r>
            <a:r>
              <a:rPr lang="en-US" sz="1800" b="1" dirty="0"/>
              <a:t>personalized decision-making</a:t>
            </a:r>
            <a:r>
              <a:rPr lang="en-US" sz="1800" dirty="0"/>
              <a:t>, and </a:t>
            </a:r>
            <a:r>
              <a:rPr lang="en-US" sz="1800" b="1" dirty="0"/>
              <a:t>Retrieval-Augmented Generation (RAG)</a:t>
            </a:r>
            <a:r>
              <a:rPr lang="en-US" sz="1800" dirty="0"/>
              <a:t> to provide intelligent, context-aware insurance guidance. Instead of simply answering questions, the agent actively understands user requirements, analyzes multiple factors, and recommends suitable insurance solutions.</a:t>
            </a:r>
          </a:p>
          <a:p>
            <a:endParaRPr lang="en-IN" sz="1800" dirty="0"/>
          </a:p>
          <a:p>
            <a:r>
              <a:rPr lang="en-IN" sz="1800" dirty="0"/>
              <a:t>This makes the solution a </a:t>
            </a:r>
            <a:r>
              <a:rPr lang="en-IN" sz="1800" b="1" dirty="0"/>
              <a:t>smart, adaptive, and proactive digital nutritionist</a:t>
            </a:r>
            <a:r>
              <a:rPr lang="en-IN" sz="1800" dirty="0"/>
              <a:t>, not just a static diet recommendation tool.</a:t>
            </a:r>
            <a:endParaRPr lang="en-US" dirty="0"/>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marL="0" marR="0" lvl="0" indent="0" algn="l" rtl="0">
              <a:lnSpc>
                <a:spcPct val="162162"/>
              </a:lnSpc>
              <a:spcBef>
                <a:spcPts val="0"/>
              </a:spcBef>
              <a:spcAft>
                <a:spcPts val="0"/>
              </a:spcAft>
              <a:buClr>
                <a:srgbClr val="2B3541"/>
              </a:buClr>
              <a:buSzPts val="1850"/>
              <a:buFont typeface="Times New Roman"/>
              <a:buNone/>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a:t>
            </a: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Make sure you have Uploaded following three files into your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r>
              <a:rPr lang="en-US" sz="1850" dirty="0">
                <a:solidFill>
                  <a:srgbClr val="2B3541"/>
                </a:solidFill>
                <a:latin typeface="Times New Roman"/>
                <a:ea typeface="Times New Roman"/>
                <a:cs typeface="Times New Roman"/>
                <a:sym typeface="Times New Roman"/>
              </a:rPr>
              <a:t/>
            </a:r>
            <a:br>
              <a:rPr lang="en-US" sz="1850" dirty="0">
                <a:solidFill>
                  <a:srgbClr val="2B3541"/>
                </a:solidFill>
                <a:latin typeface="Times New Roman"/>
                <a:ea typeface="Times New Roman"/>
                <a:cs typeface="Times New Roman"/>
                <a:sym typeface="Times New Roman"/>
              </a:rPr>
            </a:br>
            <a:r>
              <a:rPr lang="en-US" sz="1850" dirty="0">
                <a:solidFill>
                  <a:srgbClr val="2B3541"/>
                </a:solidFill>
                <a:latin typeface="Times New Roman"/>
                <a:ea typeface="Times New Roman"/>
                <a:cs typeface="Times New Roman"/>
                <a:sym typeface="Times New Roman"/>
              </a:rPr>
              <a:t>1) </a:t>
            </a:r>
            <a:r>
              <a:rPr lang="en-US" sz="1850" dirty="0" err="1">
                <a:solidFill>
                  <a:srgbClr val="2B3541"/>
                </a:solidFill>
                <a:latin typeface="Times New Roman"/>
                <a:ea typeface="Times New Roman"/>
                <a:cs typeface="Times New Roman"/>
                <a:sym typeface="Times New Roman"/>
              </a:rPr>
              <a:t>app.json</a:t>
            </a:r>
            <a:r>
              <a:rPr lang="en-US" sz="1850" dirty="0">
                <a:solidFill>
                  <a:srgbClr val="2B3541"/>
                </a:solidFill>
                <a:latin typeface="Times New Roman"/>
                <a:ea typeface="Times New Roman"/>
                <a:cs typeface="Times New Roman"/>
                <a:sym typeface="Times New Roman"/>
              </a:rPr>
              <a:t> file , 2) yourproblemstatement.pdf file  3) your projectpresntation.pptx file 4)any other files </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1" i="0" u="none" strike="noStrike" cap="none" dirty="0">
                <a:solidFill>
                  <a:srgbClr val="2B3541"/>
                </a:solidFill>
                <a:latin typeface="Times New Roman"/>
                <a:ea typeface="Times New Roman"/>
                <a:cs typeface="Times New Roman"/>
                <a:sym typeface="Times New Roman"/>
              </a:rPr>
              <a:t>1.Integration with Wearables &amp; Health Devices –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The system can be integrated with smartwatches and fitness trackers to collect real-time data such as steps, calories burned, heart rate, and sleep patterns. This will enable the Nutrition Agent to provide more accurate and dynamic diet recommendations based on actual user activity and health metrics.</a:t>
            </a:r>
          </a:p>
          <a:p>
            <a:pPr marL="0" marR="0" lvl="0" indent="0" algn="l" rtl="0">
              <a:lnSpc>
                <a:spcPct val="162162"/>
              </a:lnSpc>
              <a:spcBef>
                <a:spcPts val="0"/>
              </a:spcBef>
              <a:spcAft>
                <a:spcPts val="0"/>
              </a:spcAft>
              <a:buClr>
                <a:srgbClr val="2B3541"/>
              </a:buClr>
              <a:buSzPts val="1850"/>
              <a:buFont typeface="Times New Roman"/>
              <a:buNone/>
            </a:pPr>
            <a:r>
              <a:rPr lang="en-US" sz="1850" b="1" dirty="0">
                <a:solidFill>
                  <a:srgbClr val="2B3541"/>
                </a:solidFill>
                <a:latin typeface="Times New Roman"/>
                <a:ea typeface="Times New Roman"/>
                <a:cs typeface="Times New Roman"/>
                <a:sym typeface="Times New Roman"/>
              </a:rPr>
              <a:t>2.</a:t>
            </a:r>
            <a:r>
              <a:rPr lang="en-US" sz="1850" b="1" i="0" u="none" strike="noStrike" cap="none" dirty="0">
                <a:solidFill>
                  <a:srgbClr val="2B3541"/>
                </a:solidFill>
                <a:latin typeface="Times New Roman"/>
                <a:ea typeface="Times New Roman"/>
                <a:cs typeface="Times New Roman"/>
                <a:sym typeface="Times New Roman"/>
              </a:rPr>
              <a:t>AI-Powered Voice Assistant &amp; Multilingual Support </a:t>
            </a:r>
            <a:r>
              <a:rPr lang="en-US" sz="1850" b="0" i="0" u="none" strike="noStrike" cap="none" dirty="0">
                <a:solidFill>
                  <a:srgbClr val="2B3541"/>
                </a:solidFill>
                <a:latin typeface="Times New Roman"/>
                <a:ea typeface="Times New Roman"/>
                <a:cs typeface="Times New Roman"/>
                <a:sym typeface="Times New Roman"/>
              </a:rPr>
              <a:t>–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Enhancing the system with a voice-enabled assistant and support for multiple languages will improve accessibility. Users can interact naturally in their preferred language, making the solution more inclusive and suitable for diverse populations, especially in regions with varied linguistic backgrounds.</a:t>
            </a: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1241</TotalTime>
  <Words>552</Words>
  <Application>Microsoft Office PowerPoint</Application>
  <PresentationFormat>Widescreen</PresentationFormat>
  <Paragraphs>98</Paragraphs>
  <Slides>15</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Test Health Insurance Assistance AI Agent </vt:lpstr>
      <vt:lpstr>Test-output Health Insurance Assistance AI Agent </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admin</cp:lastModifiedBy>
  <cp:revision>51</cp:revision>
  <dcterms:created xsi:type="dcterms:W3CDTF">2025-07-08T05:06:56Z</dcterms:created>
  <dcterms:modified xsi:type="dcterms:W3CDTF">2026-06-17T10:15:04Z</dcterms:modified>
</cp:coreProperties>
</file>